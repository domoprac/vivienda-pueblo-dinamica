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Evolución de población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 intervención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2024
(base)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</c:v>
                  </c:pt>
                  <c:pt idx="4">
                    <c:v>2028</c:v>
                  </c:pt>
                  <c:pt idx="5">
                    <c:v>2029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858</c:v>
                </c:pt>
                <c:pt idx="1">
                  <c:v>853</c:v>
                </c:pt>
                <c:pt idx="2">
                  <c:v>848</c:v>
                </c:pt>
                <c:pt idx="3">
                  <c:v>843</c:v>
                </c:pt>
                <c:pt idx="4">
                  <c:v>838</c:v>
                </c:pt>
                <c:pt idx="5">
                  <c:v>833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 modelo activo</c:v>
                </c:pt>
              </c:strCache>
            </c:strRef>
          </c:tx>
          <c:spPr>
            <a:solidFill>
              <a:srgbClr val="1E5631"/>
            </a:solidFill>
            <a:ln w="31750" cap="flat">
              <a:solidFill>
                <a:srgbClr val="1E56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5631"/>
              </a:solidFill>
              <a:ln w="9525" cap="flat">
                <a:solidFill>
                  <a:srgbClr val="1E56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2024
(base)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</c:v>
                  </c:pt>
                  <c:pt idx="4">
                    <c:v>2028</c:v>
                  </c:pt>
                  <c:pt idx="5">
                    <c:v>2029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858</c:v>
                </c:pt>
                <c:pt idx="1">
                  <c:v>858</c:v>
                </c:pt>
                <c:pt idx="2">
                  <c:v>862</c:v>
                </c:pt>
                <c:pt idx="3">
                  <c:v>866</c:v>
                </c:pt>
                <c:pt idx="4">
                  <c:v>872</c:v>
                </c:pt>
                <c:pt idx="5">
                  <c:v>880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0"/>
          <c:min val="82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5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217920" cy="514350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74320"/>
            <a:ext cx="2011680" cy="2011680"/>
          </a:xfrm>
          <a:prstGeom prst="ellipse">
            <a:avLst/>
          </a:prstGeom>
          <a:solidFill>
            <a:srgbClr val="1E5631">
              <a:alpha val="40000"/>
            </a:srgbClr>
          </a:solidFill>
          <a:ln w="19050">
            <a:solidFill>
              <a:srgbClr val="A8C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1097280"/>
            <a:ext cx="2011680" cy="2011680"/>
          </a:xfrm>
          <a:prstGeom prst="ellipse">
            <a:avLst/>
          </a:prstGeom>
          <a:solidFill>
            <a:srgbClr val="1E5631">
              <a:alpha val="40000"/>
            </a:srgbClr>
          </a:solidFill>
          <a:ln w="19050">
            <a:solidFill>
              <a:srgbClr val="A8C5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1920240"/>
            <a:ext cx="2011680" cy="2011680"/>
          </a:xfrm>
          <a:prstGeom prst="ellipse">
            <a:avLst/>
          </a:prstGeom>
          <a:solidFill>
            <a:srgbClr val="1E5631">
              <a:alpha val="40000"/>
            </a:srgbClr>
          </a:solidFill>
          <a:ln w="19050">
            <a:solidFill>
              <a:srgbClr val="A8C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0" y="2743200"/>
            <a:ext cx="2011680" cy="2011680"/>
          </a:xfrm>
          <a:prstGeom prst="ellipse">
            <a:avLst/>
          </a:prstGeom>
          <a:solidFill>
            <a:srgbClr val="1E5631">
              <a:alpha val="40000"/>
            </a:srgbClr>
          </a:solidFill>
          <a:ln w="19050">
            <a:solidFill>
              <a:srgbClr val="A8C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8C5A0"/>
                </a:solidFill>
              </a:rPr>
              <a:t>METODOLOGÍA CPS · MÁSTER PROBLEM SOLVING · UNIR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Vivienda activa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 la despoblación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A8C5A0"/>
                </a:solidFill>
              </a:rPr>
              <a:t>Cómo gestionar el parque de vivienda municipal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A8C5A0"/>
                </a:solidFill>
              </a:rPr>
              <a:t>para atraer nuevos vecinos de forma autosostenible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4069080"/>
            <a:ext cx="2377440" cy="548640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Caso piloto: Santacara, Navarra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4480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5A0"/>
                </a:solidFill>
              </a:rPr>
              <a:t>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 real de la despoblación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</a:rPr>
              <a:t>Población en caída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25603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B6E"/>
                </a:solidFill>
              </a:rPr>
              <a:t>En España hay más de 3.000 municipios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B6E"/>
                </a:solidFill>
              </a:rPr>
              <a:t>que pierden vecinos cada año. Sin intervención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B6E"/>
                </a:solidFill>
              </a:rPr>
              <a:t>alcanzan el umbral crítico de no retorno.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118872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4173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756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</a:rPr>
              <a:t>No falta demanda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337560" y="25603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B6E"/>
                </a:solidFill>
              </a:rPr>
              <a:t>Hay familias buscando vivienda asequible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B6E"/>
                </a:solidFill>
              </a:rPr>
              <a:t>cerca de su trabajo. El problema no es que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B6E"/>
                </a:solidFill>
              </a:rPr>
              <a:t>nadie quiera vivir en el pueblo.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0" y="118872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1732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7220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</a:rPr>
              <a:t>Falta vivienda disponible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172200" y="25603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B6E"/>
                </a:solidFill>
              </a:rPr>
              <a:t>Los ayuntamientos tienen activos inmobiliarios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B6E"/>
                </a:solidFill>
              </a:rPr>
              <a:t>sin activar. Ese es el cuello de botella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B6E"/>
                </a:solidFill>
              </a:rPr>
              <a:t>que este modelo resuelve.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solidFill>
            <a:srgbClr val="EDF3EB"/>
          </a:solidFill>
          <a:ln w="12700">
            <a:solidFill>
              <a:srgbClr val="A8C5A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0292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5631"/>
                </a:solidFill>
              </a:rPr>
              <a:t>La intervención municipal no compite con el mercado privado: activa el segmento (alquiler asequible) que el mercado no puede cubrir.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Santacara (Navarra) — el caso piloto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965960" cy="169164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858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5A0"/>
                </a:solidFill>
              </a:rPr>
              <a:t>hab.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Población 2024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5420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C5A0"/>
                </a:solidFill>
              </a:rPr>
              <a:t>−9/año media histórica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87168" y="1143000"/>
            <a:ext cx="1965960" cy="169164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87168" y="12344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49,5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487168" y="1920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5A0"/>
                </a:solidFill>
              </a:rPr>
              <a:t>años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87168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Media de edad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87168" y="25420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C5A0"/>
                </a:solidFill>
              </a:rPr>
              <a:t>26,9% mayores de 65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08576" y="1143000"/>
            <a:ext cx="1965960" cy="1691640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08576" y="12344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608576" y="1920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08576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Subvención Navarra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08576" y="25420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E6C0"/>
                </a:solidFill>
              </a:rPr>
              <a:t>máx. 60.000 €/vivienda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29984" y="1143000"/>
            <a:ext cx="1965960" cy="1691640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29984" y="12344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3–4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729984" y="1920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E6C0"/>
                </a:solidFill>
              </a:rPr>
              <a:t>años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9984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Retorno inversión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29984" y="25420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E6C0"/>
                </a:solidFill>
              </a:rPr>
              <a:t>sobre coste neto municipal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017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631"/>
                </a:solidFill>
              </a:rPr>
              <a:t>Ventajas diferenciales de Santacara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3383280"/>
            <a:ext cx="4937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</a:rPr>
              <a:t>IBI 0,25% (la media navarra es 0,5–0,8%)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</a:rPr>
              <a:t>Fibra óptica 1.000 Mbps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</a:rPr>
              <a:t>Escuela local + IES a 12 min (transporte gratuito)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</a:rPr>
              <a:t>Centro de salud a &lt; 10 min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</a:rPr>
              <a:t>Empleo industrial en radio 30 min: GKN, Rockwool, polígonos Peralta/Marcilla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</a:rPr>
              <a:t>Sin tasa vehículo eléctrico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77840" y="2971800"/>
            <a:ext cx="3200400" cy="1965960"/>
          </a:xfrm>
          <a:prstGeom prst="rect">
            <a:avLst/>
          </a:prstGeom>
          <a:solidFill>
            <a:srgbClr val="EDF3EB"/>
          </a:solidFill>
          <a:ln w="19050">
            <a:solidFill>
              <a:srgbClr val="4A7C5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77840" y="2971800"/>
            <a:ext cx="3200400" cy="38404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29718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EN MARCHA AHORA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3429000"/>
            <a:ext cx="3017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D2D2D"/>
                </a:solidFill>
              </a:rPr>
              <a:t>Casa del médico + casa del cura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2D2D"/>
                </a:solidFill>
              </a:rPr>
              <a:t>Rehabilitación en curso con el Plan de Rehabilitación Rural del Gobierno de Navarra / NASUVINSA.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2D2D"/>
                </a:solidFill>
              </a:rPr>
              <a:t>Coste neto municipal estimado: ~40.000 €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2D2D"/>
                </a:solidFill>
              </a:rPr>
              <a:t>Para 2 viviendas completamente rehabilitadas.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modelo — cómo funciona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822960" cy="82296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2057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2D2D"/>
                </a:solidFill>
              </a:rPr>
              <a:t>Activos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D2D2D"/>
                </a:solidFill>
              </a:rPr>
              <a:t>municipales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0040" y="257860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B6E"/>
                </a:solidFill>
              </a:rPr>
              <a:t>Viviendas y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6B7B6E"/>
                </a:solidFill>
              </a:rPr>
              <a:t>edificios sin usar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28800" y="1508760"/>
            <a:ext cx="228600" cy="0"/>
          </a:xfrm>
          <a:prstGeom prst="line">
            <a:avLst/>
          </a:prstGeom>
          <a:noFill/>
          <a:ln w="31750">
            <a:solidFill>
              <a:srgbClr val="4A7C5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59152" y="1097280"/>
            <a:ext cx="822960" cy="82296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9152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39112" y="2057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2D2D"/>
                </a:solidFill>
              </a:rPr>
              <a:t>Rehabilitación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D2D2D"/>
                </a:solidFill>
              </a:rPr>
              <a:t>financiada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039112" y="257860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B6E"/>
                </a:solidFill>
              </a:rPr>
              <a:t>75% subvención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6B7B6E"/>
                </a:solidFill>
              </a:rPr>
              <a:t>Navarra/NASUVINSA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47872" y="1508760"/>
            <a:ext cx="228600" cy="0"/>
          </a:xfrm>
          <a:prstGeom prst="line">
            <a:avLst/>
          </a:prstGeom>
          <a:noFill/>
          <a:ln w="31750">
            <a:solidFill>
              <a:srgbClr val="4A7C5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78224" y="1097280"/>
            <a:ext cx="822960" cy="82296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78224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58184" y="2057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2D2D"/>
                </a:solidFill>
              </a:rPr>
              <a:t>Alquiler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D2D2D"/>
                </a:solidFill>
              </a:rPr>
              <a:t>asequible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58184" y="257860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B6E"/>
                </a:solidFill>
              </a:rPr>
              <a:t>Gestión vía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6B7B6E"/>
                </a:solidFill>
              </a:rPr>
              <a:t>Baremo NASUVINSA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66944" y="1508760"/>
            <a:ext cx="228600" cy="0"/>
          </a:xfrm>
          <a:prstGeom prst="line">
            <a:avLst/>
          </a:prstGeom>
          <a:noFill/>
          <a:ln w="31750">
            <a:solidFill>
              <a:srgbClr val="4A7C5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97296" y="1097280"/>
            <a:ext cx="822960" cy="822960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97296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77256" y="2057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2D2D"/>
                </a:solidFill>
              </a:rPr>
              <a:t>Nuevos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D2D2D"/>
                </a:solidFill>
              </a:rPr>
              <a:t>vecinos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77256" y="257860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B6E"/>
                </a:solidFill>
              </a:rPr>
              <a:t>Familias con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6B7B6E"/>
                </a:solidFill>
              </a:rPr>
              <a:t>empleo en radio 30'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86016" y="1508760"/>
            <a:ext cx="228600" cy="0"/>
          </a:xfrm>
          <a:prstGeom prst="line">
            <a:avLst/>
          </a:prstGeom>
          <a:noFill/>
          <a:ln w="31750">
            <a:solidFill>
              <a:srgbClr val="4A7C5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16368" y="1097280"/>
            <a:ext cx="822960" cy="822960"/>
          </a:xfrm>
          <a:prstGeom prst="ellipse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16368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96328" y="2057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2D2D"/>
                </a:solidFill>
              </a:rPr>
              <a:t>Retorno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D2D2D"/>
                </a:solidFill>
              </a:rPr>
              <a:t>municipal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196328" y="257860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B6E"/>
                </a:solidFill>
              </a:rPr>
              <a:t>Ingresos reinvertidos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6B7B6E"/>
                </a:solidFill>
              </a:rPr>
              <a:t>en más viviendas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246120"/>
            <a:ext cx="8503920" cy="73152"/>
          </a:xfrm>
          <a:prstGeom prst="rect">
            <a:avLst/>
          </a:prstGeom>
          <a:solidFill>
            <a:srgbClr val="A8C5A0"/>
          </a:solidFill>
          <a:ln w="12700">
            <a:solidFill>
              <a:srgbClr val="A8C5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3649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7C59"/>
                </a:solidFill>
              </a:rPr>
              <a:t>↑  El ciclo se retroalimenta: los ingresos de alquiler financian la siguiente rehabilitación  ↑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749040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F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749040"/>
            <a:ext cx="73152" cy="1115568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" y="37856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</a:rPr>
              <a:t>B1 — Despoblación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" y="4114800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B6E"/>
                </a:solidFill>
              </a:rPr>
              <a:t>El bucle negativo que hay que frenar: menos población → menos servicios → menos atractivo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0" y="3749040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F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3749040"/>
            <a:ext cx="73152" cy="111556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64992" y="37856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</a:rPr>
              <a:t>R1 — Vivienda activa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64992" y="4114800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B6E"/>
                </a:solidFill>
              </a:rPr>
              <a:t>La palanca principal: vivienda disponible → nuevos vecinos → más población → más servicios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80760" y="3749040"/>
            <a:ext cx="2697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F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80760" y="3749040"/>
            <a:ext cx="73152" cy="1115568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45352" y="37856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</a:rPr>
              <a:t>R2 + R3 — Multiplicadores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45352" y="4114800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B6E"/>
                </a:solidFill>
              </a:rPr>
              <a:t>Economía circular local + alianza pública reducen costes y amplifican el impacto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financiación — combinación óptima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5829300" cy="50292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43000"/>
            <a:ext cx="5829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75%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24828" y="1143000"/>
            <a:ext cx="18516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Plan Rural Navarra / NASUVINSA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755648"/>
            <a:ext cx="777240" cy="5029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5564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72768" y="1755648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PREE 5000 + Rehabilitación Protegida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368296"/>
            <a:ext cx="1165860" cy="502920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368296"/>
            <a:ext cx="1165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15%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61388" y="2368296"/>
            <a:ext cx="6515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Coste neto municipal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2907792"/>
            <a:ext cx="7772400" cy="320040"/>
          </a:xfrm>
          <a:prstGeom prst="rect">
            <a:avLst/>
          </a:prstGeom>
          <a:solidFill>
            <a:srgbClr val="EDF3EB"/>
          </a:solidFill>
          <a:ln w="12700">
            <a:solidFill>
              <a:srgbClr val="A8C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90779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5631"/>
                </a:solidFill>
              </a:rPr>
              <a:t>Los tres programas son acumulables — la combinación óptima cubre el 85–90% del coste de rehabilitación.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364992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429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6E"/>
                </a:solidFill>
              </a:rPr>
              <a:t>Coste obra 2 viviendas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5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~160.000 €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43159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B6E"/>
                </a:solidFill>
              </a:rPr>
              <a:t>(2 × 100 m² × 800 €/m²)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55848" y="3364992"/>
            <a:ext cx="2651760" cy="150876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93008" y="3429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5A0"/>
                </a:solidFill>
              </a:rPr>
              <a:t>Coste neto municipal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93008" y="3749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~40.000 €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93008" y="43159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C5A0"/>
                </a:solidFill>
              </a:rPr>
              <a:t>Tras subvenciones combinadas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08776" y="3364992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45936" y="3429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6E"/>
                </a:solidFill>
              </a:rPr>
              <a:t>Ingresos anuales alquiler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45936" y="3749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5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10.800–13.200 €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45936" y="43159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B6E"/>
                </a:solidFill>
              </a:rPr>
              <a:t>2 viviendas × ~500 €/mes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5 fases del proyecto CPS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5727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261872"/>
            <a:ext cx="868680" cy="868680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26187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226771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2D2D"/>
                </a:solidFill>
              </a:rPr>
              <a:t>Metodología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2724912"/>
            <a:ext cx="13898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B6E"/>
                </a:solidFill>
              </a:rPr>
              <a:t>Definición del problema real. No falta demanda: falta vivienda. Análisis de soluciones históricas que no funcionan.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39112" y="1097280"/>
            <a:ext cx="15727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86584" y="1261872"/>
            <a:ext cx="868680" cy="868680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86584" y="126187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130552" y="226771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2D2D"/>
                </a:solidFill>
              </a:rPr>
              <a:t>Fenomenología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130552" y="2724912"/>
            <a:ext cx="13898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B6E"/>
                </a:solidFill>
              </a:rPr>
              <a:t>El sistema es complejo y adaptativo. Bucles de retroalimentación. Stakeholders. Entorno VUCA.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58184" y="1097280"/>
            <a:ext cx="1572768" cy="361188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05656" y="1261872"/>
            <a:ext cx="868680" cy="868680"/>
          </a:xfrm>
          <a:prstGeom prst="ellipse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05656" y="126187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849624" y="226771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Análisis de la realidad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849624" y="2724912"/>
            <a:ext cx="13898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C5A0"/>
                </a:solidFill>
              </a:rPr>
              <a:t>Mercado inmobiliario real. Inventario de activos. Subvenciones disponibles. Modelo financiero piloto.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77256" y="1097280"/>
            <a:ext cx="15727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24728" y="1261872"/>
            <a:ext cx="868680" cy="868680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24728" y="126187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568696" y="226771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2D2D"/>
                </a:solidFill>
              </a:rPr>
              <a:t>Creatividad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568696" y="2724912"/>
            <a:ext cx="13898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B6E"/>
                </a:solidFill>
              </a:rPr>
              <a:t>SCAMPER, analogías biológicas, Nardone. 21 ideas generadas. Selección del modelo óptimo. Hoja de ruta (escalador).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196328" y="1097280"/>
            <a:ext cx="15727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43800" y="1261872"/>
            <a:ext cx="868680" cy="868680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126187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287768" y="226771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2D2D"/>
                </a:solidFill>
              </a:rPr>
              <a:t>Equipo y comunicación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287768" y="2724912"/>
            <a:ext cx="13898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B6E"/>
                </a:solidFill>
              </a:rPr>
              <a:t>Estructura de equipo. Plan de comunicación por actor. Selección de inquilinos (Factor X). Estrategia de replicación.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7C59"/>
                </a:solidFill>
              </a:rPr>
              <a:t>El caso de Santacara aplica las 5 fases con datos reales — no es un ejercicio teórico.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¿Quién ocupa las viviendas? — El Factor 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114800" cy="41148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Sistema de adjudicación NASUVINSA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7947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</a:rPr>
              <a:t>Baremo objetivo y regulado — no decide el alcalde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</a:rPr>
              <a:t>Requisito: sin vivienda en propiedad → filtra demanda interna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</a:rPr>
              <a:t>Inscripción en Censo de Solicitantes de Navarra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</a:rPr>
              <a:t>Contrato de 7 años y medio → arraigo garantizado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</a:rPr>
              <a:t>NASUVINSA gestiona la relación con el inquilino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</a:rPr>
              <a:t>Precio regulado: ~5,55 €/m²/mes → ~500 €/mes para 90 m²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97280"/>
            <a:ext cx="4114800" cy="411480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097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Regla de prioridad municipal propuesta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664208"/>
            <a:ext cx="475488" cy="475488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1ª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94960" y="166420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Nueva residencia + empleo en radio 30 min de Santacara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2322576"/>
            <a:ext cx="475488" cy="475488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322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2ª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232257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Nueva residencia + teletrabajo (fibra 1 Gbps)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2980944"/>
            <a:ext cx="475488" cy="475488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980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3ª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94960" y="298094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Residente actual sin vivienda propia (mejora habitacional)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776472"/>
            <a:ext cx="3840480" cy="73152"/>
          </a:xfrm>
          <a:prstGeom prst="rect">
            <a:avLst/>
          </a:prstGeom>
          <a:solidFill>
            <a:srgbClr val="EDF3EB"/>
          </a:solidFill>
          <a:ln w="12700">
            <a:solidFill>
              <a:srgbClr val="EDF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91363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1E5631"/>
                </a:solidFill>
              </a:rPr>
              <a:t>Clave del Factor X: el baremo es el escudo político del alcalde.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1E5631"/>
                </a:solidFill>
              </a:rPr>
              <a:t>El Gobierno de Navarra elige, no el ayuntamiento.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45994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2D2D"/>
                </a:solidFill>
              </a:rPr>
              <a:t>Captación previa: llevar candidatos al Censo ANTES de terminar las obras.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Comunicación — los tres niveles del sistema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697480" cy="438912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Gobierno de Navarra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627632"/>
            <a:ext cx="2487168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</a:rPr>
              <a:t>Encuentros comarcales presenciales (Olite, Zona Media)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</a:rPr>
              <a:t>Oficinas ORVE en Tafalla (15 min)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</a:rPr>
              <a:t>Proyecto Arraigo: 24.000 familias en BBDD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</a:rPr>
              <a:t>RuralNAV: 500.000 € en innovación rural 2025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72968" y="109728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1097280"/>
            <a:ext cx="2697480" cy="438912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109728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Ayuntamiento → Vecinos actuales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82696" y="1627632"/>
            <a:ext cx="2487168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</a:rPr>
              <a:t>Bandos municipales — avisos de reuniones y actualizaciones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</a:rPr>
              <a:t>Grupo de WhatsApp vecinal — comunicación directa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</a:rPr>
              <a:t>Asamblea vecinal antes del lanzamiento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</a:rPr>
              <a:t>Mensaje clave: 'Más vecinos = más servicios para todos'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25896" y="109728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25896" y="1097280"/>
            <a:ext cx="2697480" cy="438912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17336" y="109728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Ayuntamiento → Nuevos residentes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35624" y="1627632"/>
            <a:ext cx="2487168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</a:rPr>
              <a:t>Campaña activa en RRHH de GKN, Rockwool, polígonos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</a:rPr>
              <a:t>Calculadora de ahorro vs. vivir en Tudela/Pamplona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</a:rPr>
              <a:t>Lista de espera abierta durante las obras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</a:rPr>
              <a:t>Protocolo de acogida: padrino/madrina local asignado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Hoja de ruta — técnica del escalador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6E"/>
                </a:solidFill>
              </a:rPr>
              <a:t>De la cima hacia atrás: cada paso se define en función del siguiente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457200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8275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CIMA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~930 hab., parque de 8–12 viviendas, modelo replicado en 3+ municipios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7680960" cy="45720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11680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Fase 5 — Año 4–6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Documentación del modelo + 1 municipio navarro replica el piloto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97280" y="2606040"/>
            <a:ext cx="6949440" cy="45720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606040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Fase 4 — Año 3–5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Rehabilitación de 2–4 viviendas adicionales con retorno de fase anterior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463040" y="3200400"/>
            <a:ext cx="6217920" cy="45720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3200400"/>
            <a:ext cx="6080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Fase 3 — Año 3–4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Ingresos acumulados cubren inversión neta → modelo autosostenible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28800" y="3794760"/>
            <a:ext cx="5486400" cy="4572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37947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Fase 2 — Al terminar obras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Selección de inquilinos + protocolo de acogida + firma contratos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194560" y="4389120"/>
            <a:ext cx="4754880" cy="4572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43891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Fase 1 — Paralelo a obras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Campaña RRHH empleadores + lista de espera ≥5 familias externas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0" y="4709160"/>
            <a:ext cx="4023360" cy="45720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47091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BASE — HOY (en curso)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Rehabilitación casa médico + casa cura · Plan Rural Navarra/NASUVINSA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 esperados — indicadores clave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3035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051560"/>
          <a:ext cx="2971800" cy="3017520"/>
        </p:xfrm>
        <a:graphic>
          <a:graphicData uri="http://schemas.openxmlformats.org/drawingml/2006/table">
            <a:tbl>
              <a:tblPr/>
              <a:tblGrid>
                <a:gridCol w="1325880"/>
                <a:gridCol w="640080"/>
                <a:gridCol w="594360"/>
                <a:gridCol w="59436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Indicador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Línea base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Año 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Año 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Viviendas activas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 (2 en obra)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4–6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Nuevas familias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2–3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5–8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Ingresos alquiler/año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0 €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10.800–13.200 €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21.600–39.600 €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Retorno inversión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100% recuperado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200%+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Municipios replicando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≥1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224528"/>
            <a:ext cx="8458200" cy="594360"/>
          </a:xfrm>
          <a:prstGeom prst="rect">
            <a:avLst/>
          </a:prstGeom>
          <a:solidFill>
            <a:srgbClr val="EDF3EB"/>
          </a:solidFill>
          <a:ln w="12700">
            <a:solidFill>
              <a:srgbClr val="A8C5A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42245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Coste neto municipal: ~40.000 €  ·  </a:t>
            </a:r>
            <a:pPr algn="ctr" indent="0" marL="0">
              <a:buNone/>
            </a:pPr>
            <a:r>
              <a:rPr lang="en-US" sz="1200" b="1" dirty="0">
                <a:solidFill>
                  <a:srgbClr val="1E5631"/>
                </a:solidFill>
              </a:rPr>
              <a:t>Retorno en 3–4 años  ·  </a:t>
            </a:r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A 10 años: +84.000 € sobre la inversión inicial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¿Es replicable en mi municipio?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631"/>
                </a:solidFill>
              </a:rPr>
              <a:t>Condiciones mínimas para replicar el modelo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27048"/>
            <a:ext cx="347472" cy="347472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27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48132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300–2.000 hab. con tendencia descendente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347472" cy="347472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2688" y="198424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Al menos 2 activos municipales rehabilitables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32888"/>
            <a:ext cx="347472" cy="347472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32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2688" y="248716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Empleo en radio 30 min (≥1 empresa con &gt;100 trabajadores)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35808"/>
            <a:ext cx="347472" cy="347472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2688" y="299008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Comunidad autónoma con programa de vivienda rural activo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38728"/>
            <a:ext cx="347472" cy="347472"/>
          </a:xfrm>
          <a:prstGeom prst="ellipse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38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88" y="349300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6E"/>
                </a:solidFill>
              </a:rPr>
              <a:t>No hace falta: gran presupuesto, mano de obra propia, experiencia en construcción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20640" y="1051560"/>
            <a:ext cx="3703320" cy="384048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212080" y="11430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Primeros pasos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1627632"/>
            <a:ext cx="3520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A8C5A0"/>
                </a:solidFill>
              </a:rPr>
              <a:t>1.  Inventariar activos municipales rehabilitables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A8C5A0"/>
                </a:solidFill>
              </a:rPr>
              <a:t>2.  Contactar NASUVINSA u organismo autonómico equivalente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A8C5A0"/>
                </a:solidFill>
              </a:rPr>
              <a:t>3.  Calcular subvención real disponible (PREE 5000 + autonómica)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A8C5A0"/>
                </a:solidFill>
              </a:rPr>
              <a:t>4.  Abrir lista de espera de interesados (antes de la obra)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A8C5A0"/>
                </a:solidFill>
              </a:rPr>
              <a:t>5.  Aprobar convenio en pleno municipal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5262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B6E"/>
                </a:solidFill>
              </a:rPr>
              <a:t>Kit completo de herramientas disponible en: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5631"/>
                </a:solidFill>
              </a:rPr>
              <a:t>github.com/domoprac/vivienda-pueblo-dinamica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5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182880"/>
            <a:ext cx="1828800" cy="1828800"/>
          </a:xfrm>
          <a:prstGeom prst="ellipse">
            <a:avLst/>
          </a:prstGeom>
          <a:solidFill>
            <a:srgbClr val="1E5631">
              <a:alpha val="50000"/>
            </a:srgbClr>
          </a:solidFill>
          <a:ln w="15240">
            <a:solidFill>
              <a:srgbClr val="A8C5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1097280"/>
            <a:ext cx="1828800" cy="1828800"/>
          </a:xfrm>
          <a:prstGeom prst="ellipse">
            <a:avLst/>
          </a:prstGeom>
          <a:solidFill>
            <a:srgbClr val="1E5631">
              <a:alpha val="50000"/>
            </a:srgbClr>
          </a:solidFill>
          <a:ln w="15240">
            <a:solidFill>
              <a:srgbClr val="A8C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2011680"/>
            <a:ext cx="1828800" cy="1828800"/>
          </a:xfrm>
          <a:prstGeom prst="ellipse">
            <a:avLst/>
          </a:prstGeom>
          <a:solidFill>
            <a:srgbClr val="1E5631">
              <a:alpha val="50000"/>
            </a:srgbClr>
          </a:solidFill>
          <a:ln w="15240">
            <a:solidFill>
              <a:srgbClr val="A8C5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2926080"/>
            <a:ext cx="1828800" cy="1828800"/>
          </a:xfrm>
          <a:prstGeom prst="ellipse">
            <a:avLst/>
          </a:prstGeom>
          <a:solidFill>
            <a:srgbClr val="1E5631">
              <a:alpha val="50000"/>
            </a:srgbClr>
          </a:solidFill>
          <a:ln w="15240">
            <a:solidFill>
              <a:srgbClr val="A8C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3840480"/>
            <a:ext cx="1828800" cy="1828800"/>
          </a:xfrm>
          <a:prstGeom prst="ellipse">
            <a:avLst/>
          </a:prstGeom>
          <a:solidFill>
            <a:srgbClr val="1E5631">
              <a:alpha val="50000"/>
            </a:srgbClr>
          </a:solidFill>
          <a:ln w="15240">
            <a:solidFill>
              <a:srgbClr val="A8C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22960"/>
            <a:ext cx="5852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despoblación rural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es un destino inevitable.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A8C5A0"/>
                </a:solidFill>
              </a:rPr>
              <a:t>Es un problema de diseño organizativo.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A8C5A0"/>
                </a:solidFill>
              </a:rPr>
              <a:t>Y tiene solución con los activos, la financiación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A8C5A0"/>
                </a:solidFill>
              </a:rPr>
              <a:t>y los socios que ya existen.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931920"/>
            <a:ext cx="1691640" cy="914400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93192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440740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E6C0"/>
                </a:solidFill>
              </a:rPr>
              <a:t>subvención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E6C0"/>
                </a:solidFill>
              </a:rPr>
              <a:t>Navarra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23160" y="3931920"/>
            <a:ext cx="1691640" cy="914400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23160" y="393192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423160" y="440740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E6C0"/>
                </a:solidFill>
              </a:rPr>
              <a:t>años para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E6C0"/>
                </a:solidFill>
              </a:rPr>
              <a:t>retorno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43400" y="3931920"/>
            <a:ext cx="1691640" cy="914400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43400" y="393192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858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43400" y="440740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E6C0"/>
                </a:solidFill>
              </a:rPr>
              <a:t>hab. en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E6C0"/>
                </a:solidFill>
              </a:rPr>
              <a:t>Santacara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486460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5A0"/>
                </a:solidFill>
              </a:rPr>
              <a:t>Proyecto CPS · Máster Problem Solving UNIR · github.com/domoprac/vivienda-pueblo-dinamica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Vivienda activa contra la despoblación</dc:title>
  <dc:subject>PptxGenJS Presentation</dc:subject>
  <dc:creator>PptxGenJS</dc:creator>
  <cp:lastModifiedBy>PptxGenJS</cp:lastModifiedBy>
  <cp:revision>1</cp:revision>
  <dcterms:created xsi:type="dcterms:W3CDTF">2026-05-01T03:34:05Z</dcterms:created>
  <dcterms:modified xsi:type="dcterms:W3CDTF">2026-05-01T03:34:05Z</dcterms:modified>
</cp:coreProperties>
</file>